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Раздать файл Практикум_данные.xlsx и раздатку. Проверить, что у всех открывается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блока по схеме «10 минут теории → 10–15 минут практики». Пауза после второго блока.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 класс: как бы вы отвечали без Excel? (интуиция, опыт). Модель — способ формализовать интуицию и проверить её числами.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любая модель — упрощение. Вопрос не «верна ли», а «полезна ли для решения».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Пунктирные отрезки — отклонения (остатки). Метод наименьших квадратов минимизирует сумму их квадратов.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R² можно объяснить как «насколько прямая лучше, чем просто среднее значение».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 файле решения лист 1_Регрессия: три способа (ЛИНЕЙН, НАКЛОН/ОТРЕЗОК, линия тренда на диаграмме) дают одно и то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 время практики ходить по классу; типичная ошибка — перепутать порядок y и x, или взять первый элемент ЛИНЕЙН как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Обратить внимание: точки колеблются вокруг прямой — прогноз тоже будет «примерно», плюс-минус типичное отклонение.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равенство C28 = D28 = H4 + H3·25 в файле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2Б — задание со звёздочкой для быстрых. После этого слайда — пауза 5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Вживую поменять цену в B4 (200 → прибыль 16 000), вернуть 150.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Демонстрация: подобрать цену для прибыли 20 000 — получится ≈ 116; стартовав с 200 — ≈ 194.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Типичная ошибка — вся таблица из одного числа: выделен не тот диапазон или перепутаны «по строкам»/«по столбцам».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ответа: «Цена 150–160 руб. даёт ≈ 32 тыс. прибыли; бизнес прибылен при цене 92–218 руб.; аренда с зарплатой не выше 72 тыс.; в худшем сценарии прибыль 3 тыс. — нужен резерв».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Раздать тест и ДЗ. Собрать файлы практикума (или проверить на местах).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3A5F"/>
                </a:solidFill>
              </a:defRPr>
            </a:pPr>
            <a:r>
              <a:t>Прогнозирование и моделирование</a:t>
            </a:r>
          </a:p>
          <a:p>
            <a:pPr>
              <a:defRPr sz="2400">
                <a:solidFill>
                  <a:srgbClr val="555555"/>
                </a:solidFill>
              </a:defRPr>
            </a:pPr>
            <a:r>
              <a:t>Регрессия (ЛИНЕЙН) · Временные ряды (ПРЕДСКАЗ, ТЕНДЕНЦИЯ) · Анализ «что если»</a:t>
            </a:r>
          </a:p>
          <a:p>
            <a:br/>
            <a:pPr>
              <a:defRPr sz="2000">
                <a:solidFill>
                  <a:srgbClr val="555555"/>
                </a:solidFill>
              </a:defRPr>
            </a:pPr>
            <a:r>
              <a:t>Информатика, 10 класс (экономический профиль), 90 минут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Сегодня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Зачем экономисту модель и прогноз — кейс «Школьное кафе»</a:t>
            </a:r>
          </a:p>
          <a:p>
            <a:pPr>
              <a:spcAft>
                <a:spcPts val="800"/>
              </a:spcAft>
              <a:defRPr sz="2000"/>
            </a:pPr>
            <a:r>
              <a:t>• Регрессия: находим зависимость по данным — ЛИНЕЙН, НАКЛОН, ОТРЕЗОК, R²</a:t>
            </a:r>
          </a:p>
          <a:p>
            <a:pPr>
              <a:spcAft>
                <a:spcPts val="800"/>
              </a:spcAft>
              <a:defRPr sz="2000"/>
            </a:pPr>
            <a:r>
              <a:t>• Временные ряды: прогноз по тренду — ПРЕДСКАЗ.ЛИНЕЙН, ТЕНДЕНЦИЯ, (ПРЕДСКАЗ.ETS)</a:t>
            </a:r>
          </a:p>
          <a:p>
            <a:pPr>
              <a:spcAft>
                <a:spcPts val="800"/>
              </a:spcAft>
              <a:defRPr sz="2000"/>
            </a:pPr>
            <a:r>
              <a:t>• Анализ «что если»: Подбор параметра, Таблица данных, Сценарии</a:t>
            </a:r>
          </a:p>
          <a:p>
            <a:pPr>
              <a:spcAft>
                <a:spcPts val="800"/>
              </a:spcAft>
              <a:defRPr sz="2000"/>
            </a:pPr>
            <a:r>
              <a:t>• Практикум в Excel после каждого блока · тест · домашний мини-проект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Кейс: школьное кафе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В школе открывается точка с кофе. Управляющий должен решить:</a:t>
            </a:r>
          </a:p>
          <a:p>
            <a:pPr lvl="1">
              <a:spcAft>
                <a:spcPts val="800"/>
              </a:spcAft>
              <a:defRPr sz="1700"/>
            </a:pPr>
            <a:r>
              <a:t>– Сколько напитков продадим при цене 100 руб. и рекламе 5 тыс.? → нужна ЗАВИСИМОСТЬ</a:t>
            </a:r>
          </a:p>
          <a:p>
            <a:pPr lvl="1">
              <a:spcAft>
                <a:spcPts val="800"/>
              </a:spcAft>
              <a:defRPr sz="1700"/>
            </a:pPr>
            <a:r>
              <a:t>– Какая будет выручка в январе–марте? → нужен ПРОГНОЗ ПО ВРЕМЕНИ</a:t>
            </a:r>
          </a:p>
          <a:p>
            <a:pPr lvl="1">
              <a:spcAft>
                <a:spcPts val="800"/>
              </a:spcAft>
              <a:defRPr sz="1700"/>
            </a:pPr>
            <a:r>
              <a:t>– Какую цену назначить, чтобы заработать 30 тыс.? Что, если аренда вырастет? → нужен АНАЛИЗ РЕШЕНИЙ</a:t>
            </a:r>
          </a:p>
          <a:p>
            <a:pPr>
              <a:spcAft>
                <a:spcPts val="800"/>
              </a:spcAft>
              <a:defRPr sz="2000"/>
            </a:pPr>
            <a:r>
              <a:t>• Все три вопроса решаются одной идеей: строим модель → считаем → проверяем варианты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Что такое модель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Модель = входы (параметры) + формулы (связи) + выход (результат)</a:t>
            </a:r>
          </a:p>
          <a:p>
            <a:pPr lvl="1">
              <a:spcAft>
                <a:spcPts val="800"/>
              </a:spcAft>
              <a:defRPr sz="1700"/>
            </a:pPr>
            <a:r>
              <a:t>– В Excel: жёлтые ячейки — входы, зелёные — формулы</a:t>
            </a:r>
          </a:p>
          <a:p>
            <a:pPr>
              <a:spcAft>
                <a:spcPts val="800"/>
              </a:spcAft>
              <a:defRPr sz="2000"/>
            </a:pPr>
            <a:r>
              <a:t>• Прямая задача: известны входы → считаем выход  («цена 150 → прибыль 32 000»)</a:t>
            </a:r>
          </a:p>
          <a:p>
            <a:pPr>
              <a:spcAft>
                <a:spcPts val="800"/>
              </a:spcAft>
              <a:defRPr sz="2000"/>
            </a:pPr>
            <a:r>
              <a:t>• Обратная задача: нужен выход → какой вход?  («прибыль 30 000 → какая цена?»)</a:t>
            </a:r>
          </a:p>
          <a:p>
            <a:pPr>
              <a:spcAft>
                <a:spcPts val="800"/>
              </a:spcAft>
              <a:defRPr sz="2000"/>
            </a:pPr>
            <a:r>
              <a:t>• Прогноз — вывод модели там, где данных нет (будущее, другие условия). Всегда с погрешностью!</a:t>
            </a:r>
          </a:p>
          <a:p>
            <a:pPr>
              <a:spcAft>
                <a:spcPts val="800"/>
              </a:spcAft>
              <a:defRPr sz="2000"/>
            </a:pPr>
            <a:r>
              <a:t>• Хорошая модель: простая, проверяемая на данных, с понятными границами применимости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Регрессия: зависимость по данным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035040" cy="3960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Диаграмма рассеяния: каждая точка — месяц</a:t>
            </a:r>
          </a:p>
          <a:p>
            <a:pPr>
              <a:spcAft>
                <a:spcPts val="800"/>
              </a:spcAft>
              <a:defRPr sz="1800"/>
            </a:pPr>
            <a:r>
              <a:t>• Ищем прямую y = a + b·x, ближайшую ко всем точкам</a:t>
            </a:r>
          </a:p>
          <a:p>
            <a:pPr>
              <a:spcAft>
                <a:spcPts val="800"/>
              </a:spcAft>
              <a:defRPr sz="1800"/>
            </a:pPr>
            <a:r>
              <a:t>• b — наклон: на сколько растёт y при росте x на 1</a:t>
            </a:r>
          </a:p>
          <a:p>
            <a:pPr lvl="1">
              <a:spcAft>
                <a:spcPts val="800"/>
              </a:spcAft>
              <a:defRPr sz="1500"/>
            </a:pPr>
            <a:r>
              <a:t>– «+3,68 тыс. руб. выручки на каждую 1 тыс. руб. рекламы»</a:t>
            </a:r>
          </a:p>
          <a:p>
            <a:pPr>
              <a:spcAft>
                <a:spcPts val="800"/>
              </a:spcAft>
              <a:defRPr sz="1800"/>
            </a:pPr>
            <a:r>
              <a:t>• a — свободный член: y при x = 0</a:t>
            </a:r>
          </a:p>
          <a:p>
            <a:pPr lvl="1">
              <a:spcAft>
                <a:spcPts val="800"/>
              </a:spcAft>
              <a:defRPr sz="1500"/>
            </a:pPr>
            <a:r>
              <a:t>– «139 тыс. руб. — выручка без рекламы» (осторожно: x = 0 может быть вне данных)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Метод наименьших квадратов и R²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МНК: подбираем a и b так, чтобы сумма квадратов вертикальных отклонений точек от прямой была минимальна</a:t>
            </a:r>
          </a:p>
          <a:p>
            <a:pPr lvl="1">
              <a:spcAft>
                <a:spcPts val="800"/>
              </a:spcAft>
              <a:defRPr sz="1700"/>
            </a:pPr>
            <a:r>
              <a:t>– Формулы Excel считает сам; для любопытных: b = Σ(x−x̄)(y−ȳ) / Σ(x−x̄)²,  a = ȳ − b·x̄</a:t>
            </a:r>
          </a:p>
          <a:p>
            <a:pPr>
              <a:spcAft>
                <a:spcPts val="800"/>
              </a:spcAft>
              <a:defRPr sz="2000"/>
            </a:pPr>
            <a:r>
              <a:t>• R² (коэффициент детерминации), от 0 до 1 — доля разброса y, объяснённая моделью</a:t>
            </a:r>
          </a:p>
          <a:p>
            <a:pPr lvl="1">
              <a:spcAft>
                <a:spcPts val="800"/>
              </a:spcAft>
              <a:defRPr sz="1700"/>
            </a:pPr>
            <a:r>
              <a:t>– R² = 0,98 → 98 % изменений выручки «объясняются» рекламой</a:t>
            </a:r>
          </a:p>
          <a:p>
            <a:pPr lvl="1">
              <a:spcAft>
                <a:spcPts val="800"/>
              </a:spcAft>
              <a:defRPr sz="1700"/>
            </a:pPr>
            <a:r>
              <a:t>– R² = 0,10 → модель почти бесполезна для прогноза</a:t>
            </a:r>
          </a:p>
          <a:p>
            <a:pPr>
              <a:spcAft>
                <a:spcPts val="800"/>
              </a:spcAft>
              <a:defRPr sz="2000"/>
            </a:pPr>
            <a:r>
              <a:t>• Корреляция ≠ причинность: мороженое и утопления связаны через жару, а не друг с другом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ЛИНЕЙН (LINEST) и её друзья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93192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Что нужно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Русский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English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Наклон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=НАКЛОН(y;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=SLOPE(y, x)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Свободный член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=ОТРЕЗОК(y;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=INTERCEPT(y, x)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=КВПИРСОН(y;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=RSQ(y, x)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b и a сразу (массив {b; a})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=ЛИНЕЙН(y; 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=LINEST(y, x)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Одно число из массива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=ИНДЕКС(ЛИНЕЙН(y; x); 1;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=INDEX(LINEST(y, x), 1, 1)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Полная статистика 5×2 (R² — строка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=ЛИНЕЙН(y; x; ИСТИНА; ИСТИНА)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=LINEST(y, x, TRUE, TRUE)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976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Первый аргумент — всегда известные y (что предсказываем), второй — x</a:t>
            </a:r>
          </a:p>
          <a:p>
            <a:pPr>
              <a:spcAft>
                <a:spcPts val="800"/>
              </a:spcAft>
              <a:defRPr sz="1700"/>
            </a:pPr>
            <a:r>
              <a:t>• ЛИНЕЙН выдаёт сначала b, потом a — порядок обратный привычному y = a + b·x</a:t>
            </a:r>
          </a:p>
          <a:p>
            <a:pPr>
              <a:spcAft>
                <a:spcPts val="800"/>
              </a:spcAft>
              <a:defRPr sz="1700"/>
            </a:pPr>
            <a:r>
              <a:t>• Excel 365: формула массива «разливается» сама. Excel 2016/2019: выделить диапазон → Ctrl + Shift + Enter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Несколько факторов: множественная регрессия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Спрос на кофе зависит от цены И рекламы:  Q = a + b₁·Цена + b₂·Реклама</a:t>
            </a:r>
          </a:p>
          <a:p>
            <a:pPr>
              <a:spcAft>
                <a:spcPts val="800"/>
              </a:spcAft>
              <a:defRPr sz="2000"/>
            </a:pPr>
            <a:r>
              <a:t>• =ЛИНЕЙН(Q; диапазон_из_двух_столбцов) → {b₂; b₁; a} — коэффициенты в ОБРАТНОМ порядке!</a:t>
            </a:r>
          </a:p>
          <a:p>
            <a:pPr>
              <a:spcAft>
                <a:spcPts val="800"/>
              </a:spcAft>
              <a:defRPr sz="2000"/>
            </a:pPr>
            <a:r>
              <a:t>• Ожидаем: b₁ &lt; 0 (дороже — покупают меньше), b₂ &gt; 0 (реклама помогает)</a:t>
            </a:r>
          </a:p>
          <a:p>
            <a:pPr>
              <a:spcAft>
                <a:spcPts val="800"/>
              </a:spcAft>
              <a:defRPr sz="2000"/>
            </a:pPr>
            <a:r>
              <a:t>• Экономический смысл: b₁ — наклон функции спроса; эластичность E = b₁·P/Q</a:t>
            </a:r>
          </a:p>
          <a:p>
            <a:pPr>
              <a:spcAft>
                <a:spcPts val="800"/>
              </a:spcAft>
              <a:defRPr sz="2000"/>
            </a:pPr>
            <a:r>
              <a:t>• Практика 1 (15 мин): лист 1_Регрессия, задания 1А и 1Б. Вопрос со звёздочкой: скидка 10 руб. или +1 тыс. рекламы — что выгоднее по выручке?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Временные ряды и тренд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035040" cy="3960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Временной ряд — одна величина через равные промежутки времени</a:t>
            </a:r>
          </a:p>
          <a:p>
            <a:pPr>
              <a:spcAft>
                <a:spcPts val="800"/>
              </a:spcAft>
              <a:defRPr sz="1800"/>
            </a:pPr>
            <a:r>
              <a:t>• Вводим номер периода t = 1, 2, 3… — это наш x</a:t>
            </a:r>
          </a:p>
          <a:p>
            <a:pPr>
              <a:spcAft>
                <a:spcPts val="800"/>
              </a:spcAft>
              <a:defRPr sz="1800"/>
            </a:pPr>
            <a:r>
              <a:t>• Линейный тренд — та же регрессия y = a + b·t</a:t>
            </a:r>
          </a:p>
          <a:p>
            <a:pPr lvl="1">
              <a:spcAft>
                <a:spcPts val="800"/>
              </a:spcAft>
              <a:defRPr sz="1500"/>
            </a:pPr>
            <a:r>
              <a:t>– b ≈ 7,1 тыс. руб. — средний прирост выручки в месяц</a:t>
            </a:r>
          </a:p>
          <a:p>
            <a:pPr>
              <a:spcAft>
                <a:spcPts val="800"/>
              </a:spcAft>
              <a:defRPr sz="1800"/>
            </a:pPr>
            <a:r>
              <a:t>• Прогноз = продолжение прямой на 1–3 периода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ПРЕДСКАЗ.ЛИНЕЙН и ТЕНДЕНЦИЯ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=ПРЕДСКАЗ.ЛИНЕЙН(новый_x; известные_y; известные_x) — одно значение  (FORECAST.LINEAR; в старых версиях — ПРЕДСКАЗ)</a:t>
            </a:r>
          </a:p>
          <a:p>
            <a:pPr>
              <a:spcAft>
                <a:spcPts val="800"/>
              </a:spcAft>
              <a:defRPr sz="2000"/>
            </a:pPr>
            <a:r>
              <a:t>• =ТЕНДЕНЦИЯ(известные_y; известные_x; новые_x) — сразу массив прогнозов  (TREND)</a:t>
            </a:r>
          </a:p>
          <a:p>
            <a:pPr>
              <a:spcAft>
                <a:spcPts val="800"/>
              </a:spcAft>
              <a:defRPr sz="2000"/>
            </a:pPr>
            <a:r>
              <a:t>• ПРЕДСКАЗ.ЛИНЕЙН = ТЕНДЕНЦИЯ = a + b·t из ЛИНЕЙН — это ОДНА модель, три записи</a:t>
            </a:r>
          </a:p>
          <a:p>
            <a:pPr>
              <a:spcAft>
                <a:spcPts val="800"/>
              </a:spcAft>
              <a:defRPr sz="2000"/>
            </a:pPr>
            <a:r>
              <a:t>• Диаграмма → Линия тренда → «Прогноз вперёд на N периодов» — то же самое графически</a:t>
            </a:r>
          </a:p>
          <a:p>
            <a:pPr>
              <a:spcAft>
                <a:spcPts val="800"/>
              </a:spcAft>
              <a:defRPr sz="2000"/>
            </a:pPr>
            <a:r>
              <a:t>• Практика 2 (10 мин): лист 2_Временной_ряд — прогноз I квартала 2026 (t = 25, 26, 27) и сумма за квартал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Границы прогноза: экстраполяция и сезонность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035040" cy="3960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Модель описывает прошлые данные, а не будущее</a:t>
            </a:r>
          </a:p>
          <a:p>
            <a:pPr lvl="1">
              <a:spcAft>
                <a:spcPts val="800"/>
              </a:spcAft>
              <a:defRPr sz="1500"/>
            </a:pPr>
            <a:r>
              <a:t>– Прогноз на t = 60 (720 тыс.) формула выдаст — но 5 лет вперёд по 2 годам данных — гадание</a:t>
            </a:r>
          </a:p>
          <a:p>
            <a:pPr lvl="1">
              <a:spcAft>
                <a:spcPts val="800"/>
              </a:spcAft>
              <a:defRPr sz="1500"/>
            </a:pPr>
            <a:r>
              <a:t>– Правило: горизонт ≲ 10–20 % длины ряда</a:t>
            </a:r>
          </a:p>
          <a:p>
            <a:pPr>
              <a:spcAft>
                <a:spcPts val="800"/>
              </a:spcAft>
              <a:defRPr sz="1800"/>
            </a:pPr>
            <a:r>
              <a:t>• Сезонность: «зубчатый» график — прямая проходит посередине, R² = 0,09</a:t>
            </a:r>
          </a:p>
          <a:p>
            <a:pPr lvl="1">
              <a:spcAft>
                <a:spcPts val="800"/>
              </a:spcAft>
              <a:defRPr sz="1500"/>
            </a:pPr>
            <a:r>
              <a:t>– =ПРЕДСКАЗ.ETS(дата; y; даты; 4) учитывает сезон длиной 4 квартала</a:t>
            </a:r>
          </a:p>
          <a:p>
            <a:pPr lvl="1">
              <a:spcAft>
                <a:spcPts val="800"/>
              </a:spcAft>
              <a:defRPr sz="1500"/>
            </a:pPr>
            <a:r>
              <a:t>– Данные → Лист прогноза — автоматически, с доверительным интервалом</a:t>
            </a:r>
          </a:p>
          <a:p>
            <a:pPr>
              <a:spcAft>
                <a:spcPts val="800"/>
              </a:spcAft>
              <a:defRPr sz="1800"/>
            </a:pPr>
            <a:r>
              <a:t>• Сначала смотри на график, потом считай!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Анализ «что если» (what-if)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Модель прибыли кафе: Q = 2000 − 8·P;  Прибыль = (P − VC)·Q − FC.  При P = 150: Q = 800, прибыль 32 000</a:t>
            </a:r>
          </a:p>
          <a:p>
            <a:pPr>
              <a:spcAft>
                <a:spcPts val="800"/>
              </a:spcAft>
              <a:defRPr sz="2000"/>
            </a:pPr>
            <a:r>
              <a:t>• Три инструмента на вкладке Данные → Анализ «что если»:</a:t>
            </a:r>
          </a:p>
          <a:p>
            <a:pPr lvl="1">
              <a:spcAft>
                <a:spcPts val="800"/>
              </a:spcAft>
              <a:defRPr sz="1700"/>
            </a:pPr>
            <a:r>
              <a:t>– Подбор параметра (Goal Seek) — обратная задача: какая цена даст прибыль 30 000?</a:t>
            </a:r>
          </a:p>
          <a:p>
            <a:pPr lvl="1">
              <a:spcAft>
                <a:spcPts val="800"/>
              </a:spcAft>
              <a:defRPr sz="1700"/>
            </a:pPr>
            <a:r>
              <a:t>– Таблица данных (Data Table) — много прямых задач сразу: прибыль для цен 100…220 = анализ чувствительности</a:t>
            </a:r>
          </a:p>
          <a:p>
            <a:pPr lvl="1">
              <a:spcAft>
                <a:spcPts val="800"/>
              </a:spcAft>
              <a:defRPr sz="1700"/>
            </a:pPr>
            <a:r>
              <a:t>– Диспетчер сценариев (Scenario Manager) — именованные наборы входов + сводный отчёт</a:t>
            </a:r>
          </a:p>
          <a:p>
            <a:pPr>
              <a:spcAft>
                <a:spcPts val="800"/>
              </a:spcAft>
              <a:defRPr sz="2000"/>
            </a:pPr>
            <a:r>
              <a:t>• Это стандартный набор финансового аналитика: точка безубыточности, чувствительность, сценарии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Подбор параметра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035040" cy="39604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Установить в ячейке: B15 (прибыль — ФОРМУЛА)</a:t>
            </a:r>
          </a:p>
          <a:p>
            <a:pPr>
              <a:spcAft>
                <a:spcPts val="800"/>
              </a:spcAft>
              <a:defRPr sz="1800"/>
            </a:pPr>
            <a:r>
              <a:t>• Значение: 30000</a:t>
            </a:r>
          </a:p>
          <a:p>
            <a:pPr>
              <a:spcAft>
                <a:spcPts val="800"/>
              </a:spcAft>
              <a:defRPr sz="1800"/>
            </a:pPr>
            <a:r>
              <a:t>• Изменяя значение ячейки: B4 (цена — ЧИСЛО)</a:t>
            </a:r>
          </a:p>
          <a:p>
            <a:pPr>
              <a:spcAft>
                <a:spcPts val="800"/>
              </a:spcAft>
              <a:defRPr sz="1800"/>
            </a:pPr>
            <a:r>
              <a:t>• Ловушки:</a:t>
            </a:r>
          </a:p>
          <a:p>
            <a:pPr lvl="1">
              <a:spcAft>
                <a:spcPts val="800"/>
              </a:spcAft>
              <a:defRPr sz="1500"/>
            </a:pPr>
            <a:r>
              <a:t>– решений может быть два — найдётся ближайшее к стартовому значению (138 или 172)</a:t>
            </a:r>
          </a:p>
          <a:p>
            <a:pPr lvl="1">
              <a:spcAft>
                <a:spcPts val="800"/>
              </a:spcAft>
              <a:defRPr sz="1500"/>
            </a:pPr>
            <a:r>
              <a:t>– решения может не быть — просим 100 000, а максимум 32 200</a:t>
            </a:r>
          </a:p>
          <a:p>
            <a:pPr lvl="1">
              <a:spcAft>
                <a:spcPts val="800"/>
              </a:spcAft>
              <a:defRPr sz="1500"/>
            </a:pPr>
            <a:r>
              <a:t>– изменяемая ячейка должна влиять на целевую</a:t>
            </a:r>
          </a:p>
          <a:p>
            <a:pPr>
              <a:spcAft>
                <a:spcPts val="800"/>
              </a:spcAft>
              <a:defRPr sz="1800"/>
            </a:pPr>
            <a:r>
              <a:t>• Точки безубыточности: 92 и 218 руб. — между ними бизнес прибылен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Таблица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Одна переменная (значения столбиком):</a:t>
            </a:r>
          </a:p>
          <a:p>
            <a:pPr lvl="1">
              <a:spcAft>
                <a:spcPts val="800"/>
              </a:spcAft>
              <a:defRPr sz="1700"/>
            </a:pPr>
            <a:r>
              <a:t>– значения входа — в столбце A22:A34 (цены 100…220)</a:t>
            </a:r>
          </a:p>
          <a:p>
            <a:pPr lvl="1">
              <a:spcAft>
                <a:spcPts val="800"/>
              </a:spcAft>
              <a:defRPr sz="1700"/>
            </a:pPr>
            <a:r>
              <a:t>– ссылки на результаты (=B11, =B12, =B15) — в строке НАД первым значением, ПРАВЕЕ угловой ячейки</a:t>
            </a:r>
          </a:p>
          <a:p>
            <a:pPr lvl="1">
              <a:spcAft>
                <a:spcPts val="800"/>
              </a:spcAft>
              <a:defRPr sz="1700"/>
            </a:pPr>
            <a:r>
              <a:t>– выделить весь блок A21:D34 → Таблица данных → «Подставлять значения по строкам в» = $B$4</a:t>
            </a:r>
          </a:p>
          <a:p>
            <a:pPr>
              <a:spcAft>
                <a:spcPts val="800"/>
              </a:spcAft>
              <a:defRPr sz="2000"/>
            </a:pPr>
            <a:r>
              <a:t>• Две переменные: угловая ячейка = формула результата (=B15); одна переменная вправо, другая вниз; указать обе ячейки</a:t>
            </a:r>
          </a:p>
          <a:p>
            <a:pPr>
              <a:spcAft>
                <a:spcPts val="800"/>
              </a:spcAft>
              <a:defRPr sz="2000"/>
            </a:pPr>
            <a:r>
              <a:t>• В ячейках появится формула массива {=ТАБЛИЦА(;B4)} — изменять или удалять можно только блок целиком</a:t>
            </a:r>
          </a:p>
          <a:p>
            <a:pPr>
              <a:spcAft>
                <a:spcPts val="800"/>
              </a:spcAft>
              <a:defRPr sz="2000"/>
            </a:pPr>
            <a:r>
              <a:t>• Практика 3 (15 мин): лист 3_What-if, задания 3.1–3.6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Диспетчер сценариев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Сценарий = имя + значения нескольких входных ячеек (B5 спрос, B7 переменные затраты, B8 постоянные)</a:t>
            </a:r>
          </a:p>
          <a:p>
            <a:pPr>
              <a:spcAft>
                <a:spcPts val="800"/>
              </a:spcAft>
              <a:defRPr sz="2000"/>
            </a:pPr>
            <a:r>
              <a:t>• Пессимистичный: a = 1800, VC = 70, FC = 45 000  → прибыль 3 000</a:t>
            </a:r>
          </a:p>
          <a:p>
            <a:pPr>
              <a:spcAft>
                <a:spcPts val="800"/>
              </a:spcAft>
              <a:defRPr sz="2000"/>
            </a:pPr>
            <a:r>
              <a:t>• Базовый: a = 2000, VC = 60, FC = 40 000  → прибыль 32 000</a:t>
            </a:r>
          </a:p>
          <a:p>
            <a:pPr>
              <a:spcAft>
                <a:spcPts val="800"/>
              </a:spcAft>
              <a:defRPr sz="2000"/>
            </a:pPr>
            <a:r>
              <a:t>• Оптимистичный: a = 2200, VC = 55, FC = 40 000  → прибыль 55 000</a:t>
            </a:r>
          </a:p>
          <a:p>
            <a:pPr>
              <a:spcAft>
                <a:spcPts val="800"/>
              </a:spcAft>
              <a:defRPr sz="2000"/>
            </a:pPr>
            <a:r>
              <a:t>• Отчёт → Структура (ячейка результата B15) — сводная таблица для «руководства»</a:t>
            </a:r>
          </a:p>
          <a:p>
            <a:pPr>
              <a:spcAft>
                <a:spcPts val="800"/>
              </a:spcAft>
              <a:defRPr sz="2000"/>
            </a:pPr>
            <a:r>
              <a:t>• Итог практики — одно предложение управленца: цена, границы безубыточности, допустимая аренда, риск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A5F"/>
                </a:solidFill>
              </a:defRPr>
            </a:pPr>
            <a:r>
              <a:t>Итоги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Регрессия отвечает «как связаны»: y = a + b·x, ЛИНЕЙН / НАКЛОН / ОТРЕЗОК, качество — R²</a:t>
            </a:r>
          </a:p>
          <a:p>
            <a:pPr>
              <a:spcAft>
                <a:spcPts val="800"/>
              </a:spcAft>
              <a:defRPr sz="2000"/>
            </a:pPr>
            <a:r>
              <a:t>• Временной ряд отвечает «что дальше»: ПРЕДСКАЗ.ЛИНЕЙН, ТЕНДЕНЦИЯ; недалеко и с оглядкой на график</a:t>
            </a:r>
          </a:p>
          <a:p>
            <a:pPr>
              <a:spcAft>
                <a:spcPts val="800"/>
              </a:spcAft>
              <a:defRPr sz="2000"/>
            </a:pPr>
            <a:r>
              <a:t>• What-if отвечает «что, если…»: Подбор параметра (обратная задача), Таблица данных (чувствительность), Сценарии</a:t>
            </a:r>
          </a:p>
          <a:p>
            <a:pPr>
              <a:spcAft>
                <a:spcPts val="800"/>
              </a:spcAft>
              <a:defRPr sz="2000"/>
            </a:pPr>
            <a:r>
              <a:t>• Прогноз — не пророчество, а вывод модели с погрешностью и границами применимости</a:t>
            </a:r>
          </a:p>
          <a:p>
            <a:pPr>
              <a:spcAft>
                <a:spcPts val="800"/>
              </a:spcAft>
              <a:defRPr sz="2000"/>
            </a:pPr>
            <a:r>
              <a:t>• Тест — 5 минут. Домашнее задание: мини-проект «Модель и прогноз» (регрессия, ряд, своя what-if модель)</a:t>
            </a:r>
          </a:p>
          <a:p>
            <a:pPr>
              <a:spcAft>
                <a:spcPts val="800"/>
              </a:spcAft>
              <a:defRPr sz="2000"/>
            </a:pPr>
            <a:r>
              <a:t>• Рефлексия: одно слово — что изменилось в вашем понимании слова «прогноз»?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